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Relationship Id="rId12" Type="http://schemas.openxmlformats.org/officeDocument/2006/relationships/image" Target="../media/image51.png"/><Relationship Id="rId13" Type="http://schemas.openxmlformats.org/officeDocument/2006/relationships/image" Target="../media/image52.png"/><Relationship Id="rId14" Type="http://schemas.openxmlformats.org/officeDocument/2006/relationships/image" Target="../media/image53.png"/><Relationship Id="rId15" Type="http://schemas.openxmlformats.org/officeDocument/2006/relationships/image" Target="../media/image5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365" y="1143000"/>
            <a:ext cx="4259609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368004"/>
            <a:ext cx="6708807" cy="670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FFFFF"/>
                </a:solidFill>
                <a:latin typeface="Space Grotesk"/>
              </a:rPr>
              <a:t>Bob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3133725"/>
            <a:ext cx="6708807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3B7DF8"/>
                </a:solidFill>
                <a:latin typeface="Space Grotesk SemiBold"/>
              </a:rPr>
              <a:t>Port Operations AI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705225"/>
            <a:ext cx="55245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Plus Jakarta Sans"/>
              </a:rPr>
              <a:t>72-Hour Congestion Prediction &amp; Berth Optimization for Next-Generation Maritime Logistics.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4661296"/>
            <a:ext cx="638934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 SemiBold"/>
              </a:rPr>
              <a:t>By Bhavya Durgani, Rudra Patel, Maitri Patel &amp; Vainavi Raval</a:t>
            </a:r>
            <a:r>
              <a:t>
</a:t>
            </a:r>
            <a:r>
              <a:rPr b="0" sz="1050" i="0" u="none">
                <a:solidFill>
                  <a:srgbClr val="3B7DF8"/>
                </a:solidFill>
                <a:latin typeface="Plus Jakarta Sans SemiBold"/>
              </a:rPr>
              <a:t>AI Track Presentation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901279"/>
            <a:ext cx="152400" cy="133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8700" y="1882229"/>
            <a:ext cx="962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2E8F0"/>
                </a:solidFill>
                <a:latin typeface="Plus Jakarta Sans SemiBold"/>
              </a:rPr>
              <a:t>IBM Hackathon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890" y="1152525"/>
            <a:ext cx="4240559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91816"/>
            <a:ext cx="3524250" cy="15638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391816"/>
            <a:ext cx="3524250" cy="15638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725" y="2391816"/>
            <a:ext cx="3524250" cy="15638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5796" y="547687"/>
            <a:ext cx="955178" cy="2857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1025" y="4184302"/>
            <a:ext cx="11029950" cy="929580"/>
          </a:xfrm>
          <a:prstGeom prst="rect">
            <a:avLst/>
          </a:prstGeom>
          <a:solidFill>
            <a:srgbClr val="F0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7725" y="4374802"/>
            <a:ext cx="104965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1F5F9"/>
                </a:solidFill>
                <a:latin typeface="Plus Jakarta Sans"/>
              </a:rPr>
              <a:t>"Port operations teams only spot congestion after ships are already queuing at anchor. There is no forward-looking tool for shift supervisors to predict bottlenecks and act before delays cascade."</a:t>
            </a:r>
          </a:p>
        </p:txBody>
      </p:sp>
      <p:sp>
        <p:nvSpPr>
          <p:cNvPr id="9" name="Rectangle 8"/>
          <p:cNvSpPr/>
          <p:nvPr/>
        </p:nvSpPr>
        <p:spPr>
          <a:xfrm>
            <a:off x="581025" y="4184302"/>
            <a:ext cx="38100" cy="929580"/>
          </a:xfrm>
          <a:prstGeom prst="rect">
            <a:avLst/>
          </a:prstGeom>
          <a:solidFill>
            <a:srgbClr val="F0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250" y="2668041"/>
            <a:ext cx="2971800" cy="439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b="1" sz="3150" i="0" u="none">
                <a:solidFill>
                  <a:srgbClr val="F04444"/>
                </a:solidFill>
                <a:latin typeface="Space Grotesk"/>
              </a:rPr>
              <a:t>100+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3222277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Vessels routinely waiting offshore at major ports like LA / Long Beach for weeks.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2668041"/>
            <a:ext cx="2971800" cy="439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b="1" sz="3150" i="0" u="none">
                <a:solidFill>
                  <a:srgbClr val="F5A623"/>
                </a:solidFill>
                <a:latin typeface="Space Grotesk"/>
              </a:rPr>
              <a:t>$Billions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3222277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Lost annually across global supply chains due to cascading terminal bottlenecks.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2950" y="2668041"/>
            <a:ext cx="2971800" cy="439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b="1" sz="3150" i="0" u="none">
                <a:solidFill>
                  <a:srgbClr val="3B7DF8"/>
                </a:solidFill>
                <a:latin typeface="Space Grotesk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2950" y="3222277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Manual berth &amp; yard allocation reliance in daily reactive operations.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485775"/>
            <a:ext cx="110299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FFFFF"/>
                </a:solidFill>
                <a:latin typeface="Plus Jakarta Sans"/>
              </a:rPr>
              <a:t>Ports Are Drowning in Congestion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16621"/>
            <a:ext cx="5089028" cy="34724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953" y="1943100"/>
            <a:ext cx="5598021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4488953"/>
            <a:ext cx="4460378" cy="685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724" y="547687"/>
            <a:ext cx="1003250" cy="28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5350" y="2330946"/>
            <a:ext cx="4460378" cy="1157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E2E8F0"/>
                </a:solidFill>
                <a:latin typeface="Plus Jakarta Sans"/>
              </a:rPr>
              <a:t>Bob ingests </a:t>
            </a:r>
            <a:r>
              <a:rPr b="1" sz="1425" i="0" u="none">
                <a:solidFill>
                  <a:srgbClr val="FFFFFF"/>
                </a:solidFill>
                <a:latin typeface="Plus Jakarta Sans"/>
              </a:rPr>
              <a:t>4 live datasets</a:t>
            </a:r>
            <a:r>
              <a:rPr b="0" sz="1425" i="0" u="none">
                <a:solidFill>
                  <a:srgbClr val="E2E8F0"/>
                </a:solidFill>
                <a:latin typeface="Plus Jakarta Sans"/>
              </a:rPr>
              <a:t> — vessel schedules, berth capacity, yard utilization, and historical incidents — and produces a full </a:t>
            </a:r>
            <a:r>
              <a:rPr b="1" sz="1425" i="0" u="none">
                <a:solidFill>
                  <a:srgbClr val="3B7DF8"/>
                </a:solidFill>
                <a:latin typeface="Plus Jakarta Sans"/>
              </a:rPr>
              <a:t>72-hour operations plan</a:t>
            </a:r>
            <a:r>
              <a:rPr b="0" sz="1425" i="0" u="none">
                <a:solidFill>
                  <a:srgbClr val="E2E8F0"/>
                </a:solidFill>
                <a:latin typeface="Plus Jakarta Sans"/>
              </a:rPr>
              <a:t> in seconds.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3717428"/>
            <a:ext cx="4460378" cy="542925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Zero setup overhead — lightweight single client-side bundle</a:t>
            </a:r>
            <a:r>
              <a:t>
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Instant risk reasoning &amp; shift supervisor briefs</a:t>
            </a:r>
            <a:r>
              <a:t>
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Dynamic berth allocation &amp; crane workload balancing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2478" y="1952625"/>
            <a:ext cx="5578971" cy="3600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350" y="3746003"/>
            <a:ext cx="12382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350" y="3926978"/>
            <a:ext cx="1238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350" y="4107953"/>
            <a:ext cx="12382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375" y="4755653"/>
            <a:ext cx="1524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1025" y="485775"/>
            <a:ext cx="110299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FFFFF"/>
                </a:solidFill>
                <a:latin typeface="Plus Jakarta Sans"/>
              </a:rPr>
              <a:t>Bob — An AI Copilot for Port Operations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23257"/>
            <a:ext cx="2643187" cy="20687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6612" y="2723257"/>
            <a:ext cx="2643187" cy="20687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723257"/>
            <a:ext cx="2643187" cy="206871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7787" y="2723257"/>
            <a:ext cx="2643187" cy="206871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3811" y="552450"/>
            <a:ext cx="1357163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050" y="2961382"/>
            <a:ext cx="2243137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B7DF8"/>
                </a:solidFill>
                <a:latin typeface="Plus Jakarta Sans"/>
              </a:rPr>
              <a:t>STEP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199507"/>
            <a:ext cx="2355294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Space Grotesk"/>
              </a:rPr>
              <a:t>INPUT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6637" y="2961382"/>
            <a:ext cx="2243137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B7DF8"/>
                </a:solidFill>
                <a:latin typeface="Plus Jakarta Sans"/>
              </a:rPr>
              <a:t>STEP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6637" y="3199507"/>
            <a:ext cx="2355294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Space Grotesk"/>
              </a:rPr>
              <a:t>IBM AI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2225" y="2961382"/>
            <a:ext cx="2243137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B7DF8"/>
                </a:solidFill>
                <a:latin typeface="Plus Jakarta Sans"/>
              </a:rPr>
              <a:t>STEP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2225" y="3199507"/>
            <a:ext cx="2355294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Space Grotesk"/>
              </a:rPr>
              <a:t>OUTPUT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67812" y="2961382"/>
            <a:ext cx="2243137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B7DF8"/>
                </a:solidFill>
                <a:latin typeface="Plus Jakarta Sans"/>
              </a:rPr>
              <a:t>STEP 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7812" y="3199507"/>
            <a:ext cx="2355294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Space Grotesk"/>
              </a:rPr>
              <a:t>DISPLAY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50" y="3532882"/>
            <a:ext cx="2128837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Vessel Schedule 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350" y="3788122"/>
            <a:ext cx="2128837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Berth Capacity 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350" y="4043362"/>
            <a:ext cx="2128837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Yard Capacity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350" y="4298602"/>
            <a:ext cx="2128837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Historical Incidents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0937" y="3532882"/>
            <a:ext cx="2128837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Granite Congestion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0937" y="3788122"/>
            <a:ext cx="2128837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Earliest-Free Optimizer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0937" y="4043362"/>
            <a:ext cx="2128837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Crane Workload Balancer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6525" y="3532882"/>
            <a:ext cx="2128837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72-Hr Risk Windows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6525" y="3788122"/>
            <a:ext cx="2128837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Optimal Berth Allocation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6525" y="4043362"/>
            <a:ext cx="2128837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Routing Priorities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6525" y="4298602"/>
            <a:ext cx="2128837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Escalation Flags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2112" y="3532882"/>
            <a:ext cx="2128837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Interactive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2112" y="3788122"/>
            <a:ext cx="2128837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Shift Supervisor Brief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2112" y="4043362"/>
            <a:ext cx="2128837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Persistent Session CRUD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050" y="3532882"/>
            <a:ext cx="66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B7DF8"/>
                </a:solidFill>
                <a:latin typeface="Plus Jakarta San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050" y="3788122"/>
            <a:ext cx="66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B7DF8"/>
                </a:solidFill>
                <a:latin typeface="Plus Jakarta San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050" y="4043362"/>
            <a:ext cx="66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B7DF8"/>
                </a:solidFill>
                <a:latin typeface="Plus Jakarta San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050" y="4298602"/>
            <a:ext cx="66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B7DF8"/>
                </a:solidFill>
                <a:latin typeface="Plus Jakarta Sans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76637" y="3532882"/>
            <a:ext cx="66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B7DF8"/>
                </a:solidFill>
                <a:latin typeface="Plus Jakarta San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76637" y="3788122"/>
            <a:ext cx="66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B7DF8"/>
                </a:solidFill>
                <a:latin typeface="Plus Jakarta Sans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76637" y="4043362"/>
            <a:ext cx="66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B7DF8"/>
                </a:solidFill>
                <a:latin typeface="Plus Jakarta San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2225" y="3532882"/>
            <a:ext cx="66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B7DF8"/>
                </a:solidFill>
                <a:latin typeface="Plus Jakarta Sans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2225" y="3788122"/>
            <a:ext cx="66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B7DF8"/>
                </a:solidFill>
                <a:latin typeface="Plus Jakarta Sans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2225" y="4043362"/>
            <a:ext cx="66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B7DF8"/>
                </a:solidFill>
                <a:latin typeface="Plus Jakarta Sans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2225" y="4298602"/>
            <a:ext cx="66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B7DF8"/>
                </a:solidFill>
                <a:latin typeface="Plus Jakarta Sans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67812" y="3532882"/>
            <a:ext cx="66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B7DF8"/>
                </a:solidFill>
                <a:latin typeface="Plus Jakarta Sans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67812" y="3788122"/>
            <a:ext cx="66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B7DF8"/>
                </a:solidFill>
                <a:latin typeface="Plus Jakarta Sans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67812" y="4043362"/>
            <a:ext cx="66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B7DF8"/>
                </a:solidFill>
                <a:latin typeface="Plus Jakarta Sans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1025" y="485775"/>
            <a:ext cx="110299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FFFFF"/>
                </a:solidFill>
                <a:latin typeface="Plus Jakarta Sans"/>
              </a:rPr>
              <a:t>Data In ➔ Intelligence Out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86112" y="3748089"/>
            <a:ext cx="1714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B7DF8"/>
                </a:solidFill>
                <a:latin typeface="Plus Jakarta Sans"/>
              </a:rPr>
              <a:t>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81700" y="3748089"/>
            <a:ext cx="1714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B7DF8"/>
                </a:solidFill>
                <a:latin typeface="Plus Jakarta Sans"/>
              </a:rPr>
              <a:t>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7287" y="3748089"/>
            <a:ext cx="1714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B7DF8"/>
                </a:solidFill>
                <a:latin typeface="Plus Jakarta Sans"/>
              </a:rPr>
              <a:t>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57400"/>
            <a:ext cx="6348710" cy="3390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2066925"/>
            <a:ext cx="6329660" cy="323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5485" y="2182266"/>
            <a:ext cx="4395489" cy="95815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5485" y="3273772"/>
            <a:ext cx="4395489" cy="95815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5485" y="4365277"/>
            <a:ext cx="4395489" cy="95815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0430" y="547687"/>
            <a:ext cx="1740544" cy="285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550" y="2390775"/>
            <a:ext cx="6329660" cy="3048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2950" y="2176462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176462"/>
            <a:ext cx="95250" cy="95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85850" y="2176462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3500" y="2162175"/>
            <a:ext cx="1446162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94A3B8"/>
                </a:solidFill>
                <a:latin typeface="monospace"/>
              </a:rPr>
              <a:t>port_ops_dashboard.html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41133" y="2344191"/>
            <a:ext cx="3958307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B7DF8"/>
                </a:solidFill>
                <a:latin typeface="Space Grotesk"/>
              </a:rPr>
              <a:t>72-Hr Prediction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15510" y="2582316"/>
            <a:ext cx="3995439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Flags high/medium/low risk arrival spikes with natural language explanation.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0183" y="3435697"/>
            <a:ext cx="3938304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B7DF8"/>
                </a:solidFill>
                <a:latin typeface="Space Grotesk"/>
              </a:rPr>
              <a:t>Earliest-Free Berth Optimizer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5510" y="3673822"/>
            <a:ext cx="3995439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Matches vessel draught and beam to compatible berths, computing exact handling hours.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1133" y="4527202"/>
            <a:ext cx="3958307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B7DF8"/>
                </a:solidFill>
                <a:latin typeface="Space Grotesk"/>
              </a:rPr>
              <a:t>Session CRUD &amp; 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5510" y="4765327"/>
            <a:ext cx="3995439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Inline editing of vessel/yard parameters with instant automated supervisor briefing.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5510" y="2368004"/>
            <a:ext cx="149423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15510" y="3459509"/>
            <a:ext cx="168473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15510" y="4551015"/>
            <a:ext cx="149423" cy="15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1025" y="485775"/>
            <a:ext cx="110299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FFFFF"/>
                </a:solidFill>
                <a:latin typeface="Plus Jakarta Sans"/>
              </a:rPr>
              <a:t>Interactive 72-Hour Ops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26493"/>
            <a:ext cx="3524250" cy="26527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426493"/>
            <a:ext cx="3524250" cy="26527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725" y="2426493"/>
            <a:ext cx="3524250" cy="26527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8948" y="547687"/>
            <a:ext cx="1692026" cy="285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702718"/>
            <a:ext cx="476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3369468"/>
            <a:ext cx="312039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Space Grotesk"/>
              </a:rPr>
              <a:t>IBM Granite AI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731418"/>
            <a:ext cx="29718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Used watsonx/Granite foundation models to generate automated shift supervisor briefs and explain complex congestion risk factors in clear natural language.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0100" y="2702718"/>
            <a:ext cx="476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0100" y="3369468"/>
            <a:ext cx="312039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Space Grotesk"/>
              </a:rPr>
              <a:t>IBM watsonx.ai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731418"/>
            <a:ext cx="2971800" cy="1071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Leveraged watsonx.ai API endpoints for multi-data synthesis — combining structured CSV streams (schedules, berths, yard capacity) into predictive operational insights.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2950" y="2702718"/>
            <a:ext cx="47625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62950" y="3369468"/>
            <a:ext cx="312039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Space Grotesk"/>
              </a:rPr>
              <a:t>IBM Cloud Developer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2950" y="3731418"/>
            <a:ext cx="29718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Built and deployed using IBM Cloud container tooling and lightweight client architectures for low-latency operational access directly in port command centers.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2836068"/>
            <a:ext cx="20955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9162" y="2836068"/>
            <a:ext cx="238125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7725" y="2836068"/>
            <a:ext cx="26670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1025" y="485775"/>
            <a:ext cx="110299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FFFFF"/>
                </a:solidFill>
                <a:latin typeface="Plus Jakarta Sans"/>
              </a:rPr>
              <a:t>Powered by IBM AI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19821"/>
            <a:ext cx="3524250" cy="18240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619821"/>
            <a:ext cx="3524250" cy="18240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619821"/>
            <a:ext cx="3524250" cy="18240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2298" y="547687"/>
            <a:ext cx="1558676" cy="28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4672458"/>
            <a:ext cx="11029950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1" u="none">
                <a:solidFill>
                  <a:srgbClr val="64748B"/>
                </a:solidFill>
                <a:latin typeface="Plus Jakarta Sans"/>
              </a:rPr>
              <a:t>* Based on simulation analysis of 12 vessels, 4 berths, and 5 historical incidents across a 72-hour window at a representative container 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2934146"/>
            <a:ext cx="3048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F04444"/>
                </a:solidFill>
                <a:latin typeface="Space Grotesk"/>
              </a:rPr>
              <a:t>2–10 Hrs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486596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E2E8F0"/>
                </a:solidFill>
                <a:latin typeface="Plus Jakarta Sans"/>
              </a:rPr>
              <a:t>Of berth wait time eliminated per vessel via proactive slow-steam coordination before arrival.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934146"/>
            <a:ext cx="3048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F5A623"/>
                </a:solidFill>
                <a:latin typeface="Space Grotesk"/>
              </a:rPr>
              <a:t>9+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486596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E2E8F0"/>
                </a:solidFill>
                <a:latin typeface="Plus Jakarta Sans"/>
              </a:rPr>
              <a:t>Yard overflow delay prevented by automated proactive Zone Y1 clearance alerts.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4850" y="2934146"/>
            <a:ext cx="3048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22C55E"/>
                </a:solidFill>
                <a:latin typeface="Space Grotesk"/>
              </a:rPr>
              <a:t>18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4850" y="3700908"/>
            <a:ext cx="3048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E2E8F0"/>
                </a:solidFill>
                <a:latin typeface="Plus Jakarta Sans"/>
              </a:rPr>
              <a:t>Cascade delay avoided by breaking dual-large-vessel simultaneous arrival patterns.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485775"/>
            <a:ext cx="110299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FFFFF"/>
                </a:solidFill>
                <a:latin typeface="Plus Jakarta Sans"/>
              </a:rPr>
              <a:t>What Bob Prevents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34207"/>
            <a:ext cx="2614612" cy="30371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137" y="2234207"/>
            <a:ext cx="2614612" cy="30371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234207"/>
            <a:ext cx="2614612" cy="303713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6362" y="2234207"/>
            <a:ext cx="2614612" cy="303713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2472332"/>
            <a:ext cx="514350" cy="514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375273"/>
            <a:ext cx="2252662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7112" y="2472332"/>
            <a:ext cx="514350" cy="514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67112" y="3375273"/>
            <a:ext cx="2252662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2225" y="2472332"/>
            <a:ext cx="514350" cy="514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72225" y="3375273"/>
            <a:ext cx="2252662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77337" y="2472332"/>
            <a:ext cx="514350" cy="514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77337" y="3375273"/>
            <a:ext cx="2252662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30011" y="547687"/>
            <a:ext cx="1280963" cy="28575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869281" y="2243734"/>
            <a:ext cx="38100" cy="30180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3120032"/>
            <a:ext cx="2365295" cy="217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b="1" sz="1425" i="0" u="none">
                <a:solidFill>
                  <a:srgbClr val="FFFFFF"/>
                </a:solidFill>
                <a:latin typeface="Space Grotesk"/>
              </a:rPr>
              <a:t>Bhavya Durgani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74393" y="2243734"/>
            <a:ext cx="38100" cy="30180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7112" y="3120032"/>
            <a:ext cx="2365295" cy="217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b="1" sz="1425" i="0" u="none">
                <a:solidFill>
                  <a:srgbClr val="FFFFFF"/>
                </a:solidFill>
                <a:latin typeface="Space Grotesk"/>
              </a:rPr>
              <a:t>Rudra Patel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79506" y="2243734"/>
            <a:ext cx="38100" cy="30180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2225" y="3120032"/>
            <a:ext cx="2365295" cy="217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b="1" sz="1425" i="0" u="none">
                <a:solidFill>
                  <a:srgbClr val="FFFFFF"/>
                </a:solidFill>
                <a:latin typeface="Space Grotesk"/>
              </a:rPr>
              <a:t>Maitri Patel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84618" y="2243734"/>
            <a:ext cx="38100" cy="30180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7337" y="3120032"/>
            <a:ext cx="2365295" cy="217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b="1" sz="1425" i="0" u="none">
                <a:solidFill>
                  <a:srgbClr val="FFFFFF"/>
                </a:solidFill>
                <a:latin typeface="Space Grotesk"/>
              </a:rPr>
              <a:t>Vainavi Raval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" y="3727698"/>
            <a:ext cx="2119312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IBM Granite AI prompt engineering &amp; reasoning model integration.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350" y="4162871"/>
            <a:ext cx="2119312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72-hour congestion prediction &amp; risk algorithms.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350" y="4598044"/>
            <a:ext cx="2119312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Earliest-free berth optimization logic.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0462" y="3727698"/>
            <a:ext cx="2119312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Single-file HTML5 ops dashboard architecture.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0462" y="4162871"/>
            <a:ext cx="2119312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ECharts data visualizations &amp; berth Gantt timeline.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0462" y="4598044"/>
            <a:ext cx="2119312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Session CRUD &amp; client-side state engine.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5575" y="3727698"/>
            <a:ext cx="2119312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Data synthesis across schedules, berths &amp; yard feeds.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5575" y="4162871"/>
            <a:ext cx="2119312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Crane workload balancing mathematical model.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5575" y="4598044"/>
            <a:ext cx="2119312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Historical incident risk matrix scoring.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10687" y="3727698"/>
            <a:ext cx="2119312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Dashboard wireframes &amp; user experience workflows.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10687" y="4162871"/>
            <a:ext cx="2119312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Shift supervisor briefing template formatting.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10687" y="4598044"/>
            <a:ext cx="2119312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Visual hierarchy &amp; accessible dark theme design.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3746748"/>
            <a:ext cx="857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8"/>
              </a:lnSpc>
            </a:pPr>
            <a:r>
              <a:rPr b="0" sz="675" i="0" u="none">
                <a:solidFill>
                  <a:srgbClr val="3B7DF8"/>
                </a:solidFill>
                <a:latin typeface="Plus Jakarta Sans"/>
              </a:rPr>
              <a:t>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000" y="4181921"/>
            <a:ext cx="857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8"/>
              </a:lnSpc>
            </a:pPr>
            <a:r>
              <a:rPr b="0" sz="675" i="0" u="none">
                <a:solidFill>
                  <a:srgbClr val="3B7DF8"/>
                </a:solidFill>
                <a:latin typeface="Plus Jakarta Sans"/>
              </a:rPr>
              <a:t>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000" y="4617094"/>
            <a:ext cx="857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8"/>
              </a:lnSpc>
            </a:pPr>
            <a:r>
              <a:rPr b="0" sz="675" i="0" u="none">
                <a:solidFill>
                  <a:srgbClr val="3B7DF8"/>
                </a:solidFill>
                <a:latin typeface="Plus Jakarta Sans"/>
              </a:rPr>
              <a:t>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7112" y="3746748"/>
            <a:ext cx="857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8"/>
              </a:lnSpc>
            </a:pPr>
            <a:r>
              <a:rPr b="0" sz="675" i="0" u="none">
                <a:solidFill>
                  <a:srgbClr val="3B7DF8"/>
                </a:solidFill>
                <a:latin typeface="Plus Jakarta Sans"/>
              </a:rPr>
              <a:t>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7112" y="4181921"/>
            <a:ext cx="857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8"/>
              </a:lnSpc>
            </a:pPr>
            <a:r>
              <a:rPr b="0" sz="675" i="0" u="none">
                <a:solidFill>
                  <a:srgbClr val="3B7DF8"/>
                </a:solidFill>
                <a:latin typeface="Plus Jakarta Sans"/>
              </a:rPr>
              <a:t>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7112" y="4617094"/>
            <a:ext cx="857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8"/>
              </a:lnSpc>
            </a:pPr>
            <a:r>
              <a:rPr b="0" sz="675" i="0" u="none">
                <a:solidFill>
                  <a:srgbClr val="3B7DF8"/>
                </a:solidFill>
                <a:latin typeface="Plus Jakarta Sans"/>
              </a:rPr>
              <a:t>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2225" y="3746748"/>
            <a:ext cx="857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8"/>
              </a:lnSpc>
            </a:pPr>
            <a:r>
              <a:rPr b="0" sz="675" i="0" u="none">
                <a:solidFill>
                  <a:srgbClr val="3B7DF8"/>
                </a:solidFill>
                <a:latin typeface="Plus Jakarta Sans"/>
              </a:rPr>
              <a:t>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2225" y="4181921"/>
            <a:ext cx="857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8"/>
              </a:lnSpc>
            </a:pPr>
            <a:r>
              <a:rPr b="0" sz="675" i="0" u="none">
                <a:solidFill>
                  <a:srgbClr val="3B7DF8"/>
                </a:solidFill>
                <a:latin typeface="Plus Jakarta Sans"/>
              </a:rPr>
              <a:t>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2225" y="4617094"/>
            <a:ext cx="857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8"/>
              </a:lnSpc>
            </a:pPr>
            <a:r>
              <a:rPr b="0" sz="675" i="0" u="none">
                <a:solidFill>
                  <a:srgbClr val="3B7DF8"/>
                </a:solidFill>
                <a:latin typeface="Plus Jakarta Sans"/>
              </a:rPr>
              <a:t>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77337" y="3746748"/>
            <a:ext cx="857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8"/>
              </a:lnSpc>
            </a:pPr>
            <a:r>
              <a:rPr b="0" sz="675" i="0" u="none">
                <a:solidFill>
                  <a:srgbClr val="3B7DF8"/>
                </a:solidFill>
                <a:latin typeface="Plus Jakarta Sans"/>
              </a:rPr>
              <a:t>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77337" y="4181921"/>
            <a:ext cx="857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8"/>
              </a:lnSpc>
            </a:pPr>
            <a:r>
              <a:rPr b="0" sz="675" i="0" u="none">
                <a:solidFill>
                  <a:srgbClr val="3B7DF8"/>
                </a:solidFill>
                <a:latin typeface="Plus Jakarta Sans"/>
              </a:rPr>
              <a:t>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77337" y="4617094"/>
            <a:ext cx="857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8"/>
              </a:lnSpc>
            </a:pPr>
            <a:r>
              <a:rPr b="0" sz="675" i="0" u="none">
                <a:solidFill>
                  <a:srgbClr val="3B7DF8"/>
                </a:solidFill>
                <a:latin typeface="Plus Jakarta Sans"/>
              </a:rPr>
              <a:t>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025" y="485775"/>
            <a:ext cx="110299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FFFFF"/>
                </a:solidFill>
                <a:latin typeface="Plus Jakarta Sans"/>
              </a:rPr>
              <a:t>Meet the Team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2972841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1025" y="37480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1025" y="37480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12226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76400" y="3115716"/>
            <a:ext cx="99345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https://nam.org/wp-content/uploads/2021/11/Ports-2_1600x900.jpg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" y="3361432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nam.org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90703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76400" y="3900487"/>
            <a:ext cx="99345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https://muz.li/_vercel/image?url=https%3A%2F%2Fcdn-images-1.medium.com%2Fmax%2F800%2F0*8o2T4T-H4gKFQ9yT&amp;w=800&amp;q=80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4146202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muz.li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FFFFF"/>
                </a:solidFill>
                <a:latin typeface="Space Grotesk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